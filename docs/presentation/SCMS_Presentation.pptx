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e6e8232ca14539" /><Relationship Type="http://schemas.openxmlformats.org/officeDocument/2006/relationships/extended-properties" Target="/docProps/app.xml" Id="R5d7a937b696240a7" /><Relationship Type="http://schemas.openxmlformats.org/officeDocument/2006/relationships/officeDocument" Target="/ppt/presentation.xml" Id="R67e7c6f06ad241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f6d3fc462a4025"/>
  </p:sldMasterIdLst>
  <p:notesMasterIdLst>
    <p:notesMasterId xmlns:r="http://schemas.openxmlformats.org/officeDocument/2006/relationships" r:id="R3007095124d24bcb"/>
  </p:notesMasterIdLst>
  <p:sldIdLst>
    <p:sldId xmlns:r="http://schemas.openxmlformats.org/officeDocument/2006/relationships" id="256" r:id="R99746e60c2444e08"/>
    <p:sldId xmlns:r="http://schemas.openxmlformats.org/officeDocument/2006/relationships" id="257" r:id="R29ef74d747694cbb"/>
    <p:sldId xmlns:r="http://schemas.openxmlformats.org/officeDocument/2006/relationships" id="258" r:id="R7e7f86d1ea4340ec"/>
    <p:sldId xmlns:r="http://schemas.openxmlformats.org/officeDocument/2006/relationships" id="259" r:id="R9562a1bd2f7c4189"/>
    <p:sldId xmlns:r="http://schemas.openxmlformats.org/officeDocument/2006/relationships" id="260" r:id="R8d6fe52398e4425b"/>
    <p:sldId xmlns:r="http://schemas.openxmlformats.org/officeDocument/2006/relationships" id="261" r:id="R39576bd3c7b14d8c"/>
    <p:sldId xmlns:r="http://schemas.openxmlformats.org/officeDocument/2006/relationships" id="262" r:id="R5235940de43e4b7a"/>
    <p:sldId xmlns:r="http://schemas.openxmlformats.org/officeDocument/2006/relationships" id="263" r:id="R8a76f8468ec24c35"/>
    <p:sldId xmlns:r="http://schemas.openxmlformats.org/officeDocument/2006/relationships" id="264" r:id="Rd5099067505d4e9b"/>
    <p:sldId xmlns:r="http://schemas.openxmlformats.org/officeDocument/2006/relationships" id="265" r:id="R8a9c0de239ef43ee"/>
    <p:sldId xmlns:r="http://schemas.openxmlformats.org/officeDocument/2006/relationships" id="266" r:id="R79dbae1229d6402a"/>
    <p:sldId xmlns:r="http://schemas.openxmlformats.org/officeDocument/2006/relationships" id="267" r:id="Rea5e18d838c24c36"/>
    <p:sldId xmlns:r="http://schemas.openxmlformats.org/officeDocument/2006/relationships" id="268" r:id="R5a5c8be3f9d84439"/>
    <p:sldId xmlns:r="http://schemas.openxmlformats.org/officeDocument/2006/relationships" id="269" r:id="Ra4896df554bb4607"/>
    <p:sldId xmlns:r="http://schemas.openxmlformats.org/officeDocument/2006/relationships" id="270" r:id="Rf0d777db23114e86"/>
    <p:sldId xmlns:r="http://schemas.openxmlformats.org/officeDocument/2006/relationships" id="271" r:id="R1474f8e21a014b05"/>
    <p:sldId xmlns:r="http://schemas.openxmlformats.org/officeDocument/2006/relationships" id="272" r:id="Re049a9630b8f434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36dc696f474f38" /><Relationship Type="http://schemas.openxmlformats.org/officeDocument/2006/relationships/slideMaster" Target="/ppt/slideMasters/slideMaster1.xml" Id="R36f6d3fc462a4025" /><Relationship Type="http://schemas.openxmlformats.org/officeDocument/2006/relationships/notesMaster" Target="/ppt/notesMasters/notesMaster1.xml" Id="R3007095124d24bcb" /><Relationship Type="http://schemas.openxmlformats.org/officeDocument/2006/relationships/presProps" Target="/ppt/presProps.xml" Id="R0c91d6a0f8c940db" /><Relationship Type="http://schemas.openxmlformats.org/officeDocument/2006/relationships/viewProps" Target="/ppt/viewProps.xml" Id="R999016cb74064b54" /><Relationship Type="http://schemas.openxmlformats.org/officeDocument/2006/relationships/tableStyles" Target="/ppt/tableStyles.xml" Id="Re649ae1edc6142ac" /><Relationship Type="http://schemas.openxmlformats.org/officeDocument/2006/relationships/slide" Target="/ppt/slides/slide1.xml" Id="R99746e60c2444e08" /><Relationship Type="http://schemas.openxmlformats.org/officeDocument/2006/relationships/slide" Target="/ppt/slides/slide2.xml" Id="R29ef74d747694cbb" /><Relationship Type="http://schemas.openxmlformats.org/officeDocument/2006/relationships/slide" Target="/ppt/slides/slide3.xml" Id="R7e7f86d1ea4340ec" /><Relationship Type="http://schemas.openxmlformats.org/officeDocument/2006/relationships/slide" Target="/ppt/slides/slide4.xml" Id="R9562a1bd2f7c4189" /><Relationship Type="http://schemas.openxmlformats.org/officeDocument/2006/relationships/slide" Target="/ppt/slides/slide5.xml" Id="R8d6fe52398e4425b" /><Relationship Type="http://schemas.openxmlformats.org/officeDocument/2006/relationships/slide" Target="/ppt/slides/slide6.xml" Id="R39576bd3c7b14d8c" /><Relationship Type="http://schemas.openxmlformats.org/officeDocument/2006/relationships/slide" Target="/ppt/slides/slide7.xml" Id="R5235940de43e4b7a" /><Relationship Type="http://schemas.openxmlformats.org/officeDocument/2006/relationships/slide" Target="/ppt/slides/slide8.xml" Id="R8a76f8468ec24c35" /><Relationship Type="http://schemas.openxmlformats.org/officeDocument/2006/relationships/slide" Target="/ppt/slides/slide9.xml" Id="Rd5099067505d4e9b" /><Relationship Type="http://schemas.openxmlformats.org/officeDocument/2006/relationships/slide" Target="/ppt/slides/slide10.xml" Id="R8a9c0de239ef43ee" /><Relationship Type="http://schemas.openxmlformats.org/officeDocument/2006/relationships/slide" Target="/ppt/slides/slide11.xml" Id="R79dbae1229d6402a" /><Relationship Type="http://schemas.openxmlformats.org/officeDocument/2006/relationships/slide" Target="/ppt/slides/slide12.xml" Id="Rea5e18d838c24c36" /><Relationship Type="http://schemas.openxmlformats.org/officeDocument/2006/relationships/slide" Target="/ppt/slides/slide13.xml" Id="R5a5c8be3f9d84439" /><Relationship Type="http://schemas.openxmlformats.org/officeDocument/2006/relationships/slide" Target="/ppt/slides/slide14.xml" Id="Ra4896df554bb4607" /><Relationship Type="http://schemas.openxmlformats.org/officeDocument/2006/relationships/slide" Target="/ppt/slides/slide15.xml" Id="Rf0d777db23114e86" /><Relationship Type="http://schemas.openxmlformats.org/officeDocument/2006/relationships/slide" Target="/ppt/slides/slide16.xml" Id="R1474f8e21a014b05" /><Relationship Type="http://schemas.openxmlformats.org/officeDocument/2006/relationships/slide" Target="/ppt/slides/slide17.xml" Id="Re049a9630b8f43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d522f6e5aa45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b3be5497cb40ff" /><Relationship Type="http://schemas.openxmlformats.org/officeDocument/2006/relationships/notesMaster" Target="/ppt/notesMasters/notesMaster1.xml" Id="R8e38f8eced3f44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64037451fc45f8" /><Relationship Type="http://schemas.openxmlformats.org/officeDocument/2006/relationships/notesMaster" Target="/ppt/notesMasters/notesMaster1.xml" Id="R1d67e05884cf45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f16a811032453b" /><Relationship Type="http://schemas.openxmlformats.org/officeDocument/2006/relationships/notesMaster" Target="/ppt/notesMasters/notesMaster1.xml" Id="Rfb7c0b9f2dd34a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23f7c679f44529" /><Relationship Type="http://schemas.openxmlformats.org/officeDocument/2006/relationships/notesMaster" Target="/ppt/notesMasters/notesMaster1.xml" Id="Ra0ba38386af242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fc92bc2e0a471b" /><Relationship Type="http://schemas.openxmlformats.org/officeDocument/2006/relationships/notesMaster" Target="/ppt/notesMasters/notesMaster1.xml" Id="R33171ec16af74b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720f85ec294ec1" /><Relationship Type="http://schemas.openxmlformats.org/officeDocument/2006/relationships/notesMaster" Target="/ppt/notesMasters/notesMaster1.xml" Id="R77bfc68a51d740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3184a293d84d34" /><Relationship Type="http://schemas.openxmlformats.org/officeDocument/2006/relationships/notesMaster" Target="/ppt/notesMasters/notesMaster1.xml" Id="R08abf4d3f11143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899f8cb57b4049" /><Relationship Type="http://schemas.openxmlformats.org/officeDocument/2006/relationships/notesMaster" Target="/ppt/notesMasters/notesMaster1.xml" Id="R34f56ee44a2343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4cb8b720cb4bb3" /><Relationship Type="http://schemas.openxmlformats.org/officeDocument/2006/relationships/notesMaster" Target="/ppt/notesMasters/notesMaster1.xml" Id="Ra4950f136cc64d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aebb7991fc4895" /><Relationship Type="http://schemas.openxmlformats.org/officeDocument/2006/relationships/notesMaster" Target="/ppt/notesMasters/notesMaster1.xml" Id="R466ab4062f7146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ac8330991241b6" /><Relationship Type="http://schemas.openxmlformats.org/officeDocument/2006/relationships/notesMaster" Target="/ppt/notesMasters/notesMaster1.xml" Id="R9ef98a50be9b4f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a005c6cf0941dd" /><Relationship Type="http://schemas.openxmlformats.org/officeDocument/2006/relationships/notesMaster" Target="/ppt/notesMasters/notesMaster1.xml" Id="Rd941e364eb7940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6173c95f14a402b" /><Relationship Type="http://schemas.openxmlformats.org/officeDocument/2006/relationships/notesMaster" Target="/ppt/notesMasters/notesMaster1.xml" Id="Re97b4949ed50428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ae6dca9ec14880" /><Relationship Type="http://schemas.openxmlformats.org/officeDocument/2006/relationships/notesMaster" Target="/ppt/notesMasters/notesMaster1.xml" Id="R8746ffd27979439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2a7244adbac46ac" /><Relationship Type="http://schemas.openxmlformats.org/officeDocument/2006/relationships/notesMaster" Target="/ppt/notesMasters/notesMaster1.xml" Id="R9cdf3a06d3274bb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e94a3dec8384dff" /><Relationship Type="http://schemas.openxmlformats.org/officeDocument/2006/relationships/notesMaster" Target="/ppt/notesMasters/notesMaster1.xml" Id="R64395efae3b64e1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b495c82e29d4781" /><Relationship Type="http://schemas.openxmlformats.org/officeDocument/2006/relationships/notesMaster" Target="/ppt/notesMasters/notesMaster1.xml" Id="R6cd843bf06e244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19847621ab46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638b318b1c40af" /><Relationship Type="http://schemas.openxmlformats.org/officeDocument/2006/relationships/slideLayout" Target="/ppt/slideLayouts/slideLayout1.xml" Id="Rbd1865ec0d3f4d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1865ec0d3f4d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77065a8534818" /><Relationship Type="http://schemas.openxmlformats.org/officeDocument/2006/relationships/image" Target="/ppt/media/image.png" Id="R5fc0343d9aa94296" /><Relationship Type="http://schemas.openxmlformats.org/officeDocument/2006/relationships/notesSlide" Target="/ppt/notesSlides/notesSlide1.xml" Id="R036015fa123642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63d32972347cd" /><Relationship Type="http://schemas.openxmlformats.org/officeDocument/2006/relationships/notesSlide" Target="/ppt/notesSlides/notesSlide2.xml" Id="R45123bebe55240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fbc37b97b49a9" /><Relationship Type="http://schemas.openxmlformats.org/officeDocument/2006/relationships/image" Target="/ppt/media/image2.png" Id="Rb412d85f36204ab7" /><Relationship Type="http://schemas.openxmlformats.org/officeDocument/2006/relationships/image" Target="/ppt/media/image3.png" Id="Ra348c207a19b40a0" /><Relationship Type="http://schemas.openxmlformats.org/officeDocument/2006/relationships/image" Target="/ppt/media/image4.png" Id="Rf7a0be91e30243ed" /><Relationship Type="http://schemas.openxmlformats.org/officeDocument/2006/relationships/image" Target="/ppt/media/image5.png" Id="R48b6f08460d8438e" /><Relationship Type="http://schemas.openxmlformats.org/officeDocument/2006/relationships/image" Target="/ppt/media/image6.png" Id="Ra8f84c1cf58d46fa" /><Relationship Type="http://schemas.openxmlformats.org/officeDocument/2006/relationships/image" Target="/ppt/media/image7.png" Id="R72e0dd1485224956" /><Relationship Type="http://schemas.openxmlformats.org/officeDocument/2006/relationships/notesSlide" Target="/ppt/notesSlides/notesSlide3.xml" Id="Rdc0bae80b54445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f0aeb24da4562" /><Relationship Type="http://schemas.openxmlformats.org/officeDocument/2006/relationships/notesSlide" Target="/ppt/notesSlides/notesSlide4.xml" Id="R29e555db3d1f4e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8910906d14b23" /><Relationship Type="http://schemas.openxmlformats.org/officeDocument/2006/relationships/notesSlide" Target="/ppt/notesSlides/notesSlide5.xml" Id="Ra862f01582a345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48e8a42f946df" /><Relationship Type="http://schemas.openxmlformats.org/officeDocument/2006/relationships/notesSlide" Target="/ppt/notesSlides/notesSlide6.xml" Id="R49207ca577c44d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0ddc6a884445c" /><Relationship Type="http://schemas.openxmlformats.org/officeDocument/2006/relationships/notesSlide" Target="/ppt/notesSlides/notesSlide7.xml" Id="Rfdb461f8256d48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49025e554457a" /><Relationship Type="http://schemas.openxmlformats.org/officeDocument/2006/relationships/notesSlide" Target="/ppt/notesSlides/notesSlide8.xml" Id="Rf0709add424745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0c369cf00483e" /><Relationship Type="http://schemas.openxmlformats.org/officeDocument/2006/relationships/notesSlide" Target="/ppt/notesSlides/notesSlide9.xml" Id="R2a7e89ac789e4b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33cb9e0864e42" /><Relationship Type="http://schemas.openxmlformats.org/officeDocument/2006/relationships/notesSlide" Target="/ppt/notesSlides/notesSlide10.xml" Id="R691fd17ab0dd44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7c89707ef485c" /><Relationship Type="http://schemas.openxmlformats.org/officeDocument/2006/relationships/notesSlide" Target="/ppt/notesSlides/notesSlide11.xml" Id="Rfc96bd9535774c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f69180d624660" /><Relationship Type="http://schemas.openxmlformats.org/officeDocument/2006/relationships/notesSlide" Target="/ppt/notesSlides/notesSlide12.xml" Id="R282d11a1eb1e44a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35643649740d7" /><Relationship Type="http://schemas.openxmlformats.org/officeDocument/2006/relationships/image" Target="/ppt/media/image8.png" Id="Ra7aff7932d6443ea" /><Relationship Type="http://schemas.openxmlformats.org/officeDocument/2006/relationships/notesSlide" Target="/ppt/notesSlides/notesSlide13.xml" Id="R883e71a6e359430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855fb4d1d40c7" /><Relationship Type="http://schemas.openxmlformats.org/officeDocument/2006/relationships/notesSlide" Target="/ppt/notesSlides/notesSlide14.xml" Id="Re60e18f2e50b427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6f93a9bd14274" /><Relationship Type="http://schemas.openxmlformats.org/officeDocument/2006/relationships/notesSlide" Target="/ppt/notesSlides/notesSlide15.xml" Id="R4962ce9ed2c04a0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301c386304efd" /><Relationship Type="http://schemas.openxmlformats.org/officeDocument/2006/relationships/notesSlide" Target="/ppt/notesSlides/notesSlide16.xml" Id="Rfcb3b5499074486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c014f322344c7" /><Relationship Type="http://schemas.openxmlformats.org/officeDocument/2006/relationships/image" Target="/ppt/media/image9.png" Id="R70e689ae8e9749a9" /><Relationship Type="http://schemas.openxmlformats.org/officeDocument/2006/relationships/notesSlide" Target="/ppt/notesSlides/notesSlide17.xml" Id="R94e88e143b52459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7CC968-52D2-4341-92ED-CE7BC1B8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E37B1-7220-43DF-B00E-2D363A6B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E1619-69AD-449B-8E48-CE4D553C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09747-621D-4CAF-A605-490ABA60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57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A9D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DC13D-9E94-4828-9E0C-42081F31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0343d9aa94296"/>
          <a:stretch xmlns:a="http://schemas.openxmlformats.org/drawingml/2006/main"/>
        </p:blipFill>
        <p:spPr>
          <a:xfrm xmlns:a="http://schemas.openxmlformats.org/drawingml/2006/main">
            <a:off x="7858125" y="1123950"/>
            <a:ext cx="2524125" cy="2524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6E3A2-3623-49D8-9E99-62BCB9A0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6286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SMART CAMPUS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MANAGEMENT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E64742-588D-497F-89FB-ADA48AD2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619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FF6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FF6FF"/>
                </a:solidFill>
                <a:latin typeface="Aptos"/>
                <a:ea typeface="Aptos"/>
                <a:cs typeface="Aptos"/>
              </a:rPr>
              <a:t>SCMS software project showcase for HITEC University Taxila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E14F8-79FA-4FDD-86F6-F82017F6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281FA-BF9F-404D-AFD4-FA7E3759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Abdul Saboor (25-CS-156)  |  Abdullah Sajjid (25-CS-026)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B59292-A798-4BB7-9A97-254A6D7A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504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FF6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FF6FF"/>
                </a:solidFill>
                <a:latin typeface="Aptos"/>
                <a:ea typeface="Aptos"/>
                <a:cs typeface="Aptos"/>
              </a:rPr>
              <a:t>Course: Object Oriented Programming</a:t>
            </a:r>
          </a:p>
          <a:p xmlns:a="http://schemas.openxmlformats.org/drawingml/2006/main">
            <a:pPr algn="l">
              <a:defRPr sz="1275" b="0">
                <a:solidFill>
                  <a:srgbClr val="DFF6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FF6FF"/>
                </a:solidFill>
                <a:latin typeface="Aptos"/>
                <a:ea typeface="Aptos"/>
                <a:cs typeface="Aptos"/>
              </a:rPr>
              <a:t>Instructor: Mohsin Shahzad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8C054-7618-4E81-9253-7DC8F73E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HITEC University Taxila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94A310-378D-4A11-8616-26D835BD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FF6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FF6FF"/>
                </a:solidFill>
                <a:latin typeface="Aptos"/>
                <a:ea typeface="Aptos"/>
                <a:cs typeface="Aptos"/>
              </a:rPr>
              <a:t>SCMS | HITEC University Taxila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DF1D4-E369-46FE-A2FE-DE421B4D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82581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4C1E55-37BC-46A3-9532-98A8E0CC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01577-0EC5-4549-A7CC-8F9EB818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BF509-63E9-498F-960E-12E0DD71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3E34B-59BD-4BAF-AA92-2658092B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6F4CC-E84D-4F91-A058-DCD9BD8B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A9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A9D"/>
                </a:solidFill>
                <a:latin typeface="Aptos"/>
                <a:ea typeface="Aptos"/>
                <a:cs typeface="Aptos"/>
              </a:rPr>
              <a:t>PROJECT INTRODUCTION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9BEA4-D276-456D-BCCD-51C7ED6A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SCMS turns campus operations into an OOP demonstration.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77C83-C21B-4AA2-952E-4883AFAA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A complete C++17 system organized into six academic modules.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70998-8F47-4164-A53F-9EDFCD7D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E433E-F3D1-439C-93BD-CAAA5388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A6329-FE0F-4955-9388-CF59CD76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3EB4AD-7690-4C26-BE0A-177CCD1B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01C60-6286-48FE-B481-E82FF40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2724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Show how a university can manage people, courses, library items, finance records, hostel rooms, and reports through one console application.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D280C-BD93-4F90-8391-D9E3E9B9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01D38A-5A88-49F1-9E96-1F33E353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81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0D7F53-405B-4858-8981-AE2CB148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384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488F7E-B839-4BA1-8A17-46E29CD2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381250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Objectives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F9B05F-CD57-4774-A62D-21221BAB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781300"/>
            <a:ext cx="2724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Demonstrate inheritance, polymorphism, templates, exceptions, persistence, smart pointers, lambdas, and STL algorithms.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A06F9-640F-4C2F-A28A-22E950C5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907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8FF1E0-E79F-4D91-BE86-039A1F9D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F810DD-EC21-43D6-AF4B-A6A2C881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384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6D0A01-018C-42EB-A87B-9FB68364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81250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061024-7429-4B26-8692-366087B8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724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Six integrated modules plus CSV/TXT persistence, documentation, UML artifacts, executable build, and submission packaging.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36AC9F-9C16-4FCC-95CF-EA6B268A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24400"/>
            <a:ext cx="1809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28CC9-F917-4057-BFA1-39ECE063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95850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5C8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5C8A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2F07F2-35B3-4089-82C8-7C7647F8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340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083"/>
                </a:solidFill>
                <a:latin typeface="Aptos"/>
                <a:ea typeface="Aptos"/>
                <a:cs typeface="Aptos"/>
              </a:rPr>
              <a:t>PROJECT MODULES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95912D-660F-49D6-97A3-A1C8BB03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24400"/>
            <a:ext cx="209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E376B5-8742-4846-A8A7-1B1B2668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95850"/>
            <a:ext cx="1752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F8A9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F8A9D"/>
                </a:solidFill>
                <a:latin typeface="Aptos Display"/>
                <a:ea typeface="Aptos Display"/>
                <a:cs typeface="Aptos Display"/>
              </a:rPr>
              <a:t>25+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ABED55-CD7C-4929-B48D-6EA8F6B2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3400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083"/>
                </a:solidFill>
                <a:latin typeface="Aptos"/>
                <a:ea typeface="Aptos"/>
                <a:cs typeface="Aptos"/>
              </a:rPr>
              <a:t>OOP CHECKPOINTS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84A403-28DE-4C60-8529-9B182D9B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24400"/>
            <a:ext cx="209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69336B-EB2D-48C9-87CF-24A885F8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95850"/>
            <a:ext cx="1752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C++17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A36AF9-B6FA-4070-AE50-7C5621CF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3400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083"/>
                </a:solidFill>
                <a:latin typeface="Aptos"/>
                <a:ea typeface="Aptos"/>
                <a:cs typeface="Aptos"/>
              </a:rPr>
              <a:t>COMPILER TARGET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08339A-3677-41F4-ACA7-7AE34C6E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724400"/>
            <a:ext cx="1428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E5CC7B-5A65-46C2-AD84-789D3F50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895850"/>
            <a:ext cx="1085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4A261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A261"/>
                </a:solidFill>
                <a:latin typeface="Aptos Display"/>
                <a:ea typeface="Aptos Display"/>
                <a:cs typeface="Aptos Display"/>
              </a:rPr>
              <a:t>CSV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1756E4-297D-49C1-B0A0-72E75C86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334000"/>
            <a:ext cx="1085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083"/>
                </a:solidFill>
                <a:latin typeface="Aptos"/>
                <a:ea typeface="Aptos"/>
                <a:cs typeface="Aptos"/>
              </a:rPr>
              <a:t>PERSISTENCE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88E607-8A98-4932-BF3B-E6E53144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SCMS | HITEC University Taxila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19EF75-666B-4D3B-82E0-145A51CE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C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5C8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20785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3A6C25-F085-4EC5-866B-8C44662B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3583F-162C-4E43-B9FC-A1FA1929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DD420-2147-4917-B817-7445E39F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CD0F2-6917-410C-AB9D-F9DED197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7AD42-4217-497F-B41D-2F050EA1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A9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A9D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3907D-687C-4E11-A319-3CE83C48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A menu-driven console app coordinates six independent modules.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43CA3-7A12-47F2-A918-62DCE489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Each module owns its domain while shared utilities handle reports and persistence.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525F0-21A7-4368-AF5F-157618FB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33650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83B66"/>
          </a:solidFill>
          <a:ln xmlns:a="http://schemas.openxmlformats.org/drawingml/2006/main" w="28575">
            <a:solidFill>
              <a:srgbClr val="FFD16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637814-CC87-4D5B-B3AC-904E9425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9850"/>
            <a:ext cx="2228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main.cpp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Menu + Demo Runner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79DD5-7452-4833-B0D2-3E85264B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4780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2d85f36204ab7"/>
          <a:stretch xmlns:a="http://schemas.openxmlformats.org/drawingml/2006/main"/>
        </p:blipFill>
        <p:spPr>
          <a:xfrm xmlns:a="http://schemas.openxmlformats.org/drawingml/2006/main">
            <a:off x="1600200" y="166687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E3772-90ED-4414-BB5F-A0A0F1E7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14500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Person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5A61C-5F46-4E11-80D1-94F31DCC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19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src/person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EA6CC-972D-42F3-B9A4-DB71CC50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83128">
            <a:off x="2619375" y="2400300"/>
            <a:ext cx="349825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76174-A381-42B9-A585-62CD7305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25730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8c207a19b40a0"/>
          <a:stretch xmlns:a="http://schemas.openxmlformats.org/drawingml/2006/main"/>
        </p:blipFill>
        <p:spPr>
          <a:xfrm xmlns:a="http://schemas.openxmlformats.org/drawingml/2006/main">
            <a:off x="5048250" y="147637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D49C1-D5FB-4F8D-BE07-551AE66C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524000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Course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8E7EF2-444F-4F54-B35B-57DD4CB2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288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src/course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6F7D63-572B-4676-96D9-4E800284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220980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6F0FDD-87A4-4EEA-B73E-861B5F1A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44780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0be91e30243ed"/>
          <a:stretch xmlns:a="http://schemas.openxmlformats.org/drawingml/2006/main"/>
        </p:blipFill>
        <p:spPr>
          <a:xfrm xmlns:a="http://schemas.openxmlformats.org/drawingml/2006/main">
            <a:off x="8496300" y="166687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9664C9-BFA4-4BE4-BFF2-100DBD09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14500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Library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31B6E5-650D-441B-89B2-37556027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19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src/library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F22DB8-677B-4531-B678-98BBD9D1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216872">
            <a:off x="9515475" y="2400300"/>
            <a:ext cx="349825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D38634-F3F8-4269-97AA-438A8A8E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6f08460d8438e"/>
          <a:stretch xmlns:a="http://schemas.openxmlformats.org/drawingml/2006/main"/>
        </p:blipFill>
        <p:spPr>
          <a:xfrm xmlns:a="http://schemas.openxmlformats.org/drawingml/2006/main">
            <a:off x="1600200" y="471487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C35494-A76C-4A41-8DA4-05EB9DB0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62500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877151-F98E-4FDF-9036-6ECE324C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67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src/finance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A49165-E537-451C-AC7C-388DD397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128665">
            <a:off x="2619375" y="5448300"/>
            <a:ext cx="423416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D97B02-4717-4CBE-BF06-AC77C12F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76250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84c1cf58d46fa"/>
          <a:stretch xmlns:a="http://schemas.openxmlformats.org/drawingml/2006/main"/>
        </p:blipFill>
        <p:spPr>
          <a:xfrm xmlns:a="http://schemas.openxmlformats.org/drawingml/2006/main">
            <a:off x="5048250" y="498157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4D2AFF-63B3-4217-84EF-EAAC285E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029200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Hostel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C76119-A016-4002-8A8D-075DAFFC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340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src/hostel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E9E6BE-C002-4DC6-AAB1-0CB7FD3B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138" y="2990850"/>
            <a:ext cx="2857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2EB328-2D97-4E1D-BADB-7A153726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2381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0dd1485224956"/>
          <a:stretch xmlns:a="http://schemas.openxmlformats.org/drawingml/2006/main"/>
        </p:blipFill>
        <p:spPr>
          <a:xfrm xmlns:a="http://schemas.openxmlformats.org/drawingml/2006/main">
            <a:off x="8496300" y="471487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DF40D5-BDE6-4912-9A7B-9891970C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62500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Reports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CDAD74-87B2-415A-A587-F9D7D7B4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67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src/utils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3A0B4F-DEAA-4ABF-A556-DA9BD13A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671335">
            <a:off x="9515475" y="5448300"/>
            <a:ext cx="423416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30B465-A131-470E-8550-C9F32494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52750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9050">
            <a:solidFill>
              <a:srgbClr val="FFD166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A556B4-BD05-45C5-A109-B5BADD02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466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data/*.csv</a:t>
            </a:r>
          </a:p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TXT report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24E944-5E76-4086-9DD7-B1430028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57599">
            <a:off x="7258050" y="2990850"/>
            <a:ext cx="212337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C8AB73-97E5-4F3F-9DA6-7CDAAB03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SCMS | HITEC University Taxila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DEB5EF-7A47-4DD4-BF5F-F6844625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C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5C8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4327927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DC0E74-4E52-44C3-9941-00E88E5A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DE249-74B7-477D-BC10-B2075930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61DF8-BD4B-4795-A630-C5450A4B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6DD32-BDE5-4B9B-9ADC-4075F32E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DB417-C652-42CC-A69B-A0A717B0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A9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A9D"/>
                </a:solidFill>
                <a:latin typeface="Aptos"/>
                <a:ea typeface="Aptos"/>
                <a:cs typeface="Aptos"/>
              </a:rPr>
              <a:t>FOLDER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C0CE4-A602-4C44-8AED-22A3B99B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The repository is organized by module, artifacts, and persisted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0D0F5-C640-47A3-9B1D-1C42C3EB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The structure mirrors the project checklist and keeps implementation boundaries clear.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64066-2113-40D7-BAD2-3CDB5889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333750" cy="36385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F2E64-F94B-4D1F-AB05-ADC32B88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5C8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5C8A"/>
                </a:solidFill>
                <a:latin typeface="Aptos Display"/>
                <a:ea typeface="Aptos Display"/>
                <a:cs typeface="Aptos Display"/>
              </a:rPr>
              <a:t>src/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05E70-8500-4D67-B303-0AD8E4AB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├── person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F68DD8-0989-4D7F-A6C7-FE10299B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├── course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2A6B0-CE38-4885-B976-9D672D76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861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├── library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4680A-6360-4999-B64E-8ABC78E7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671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├── finance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409602-FB7B-4EC8-85F3-1799304C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481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├── hostel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0FEAC3-016E-40C3-B7D7-A744DD03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291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├── utils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F724E8-7774-4B18-8700-2F508442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24050"/>
            <a:ext cx="3333750" cy="36385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87B92-2A49-47F8-A7B7-EFE898B2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098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8A9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F8A9D"/>
                </a:solidFill>
                <a:latin typeface="Aptos Display"/>
                <a:ea typeface="Aptos Display"/>
                <a:cs typeface="Aptos Display"/>
              </a:rPr>
              <a:t>docs/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0C35F-A0F8-453A-AF53-E0AAAE86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813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├── project docs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65D62E-7D88-49CE-9B3D-B16DC237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004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├── UML diagrams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67A6C8-CC5C-4A22-B1FA-9DDB6548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195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├── logo + branding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CF4D6D-CD5A-4A27-8AEF-B8D1BB3B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386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├── cover page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8C041F-0F43-49A7-94B3-C8287CCE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577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├── presentation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0CBB7B-32B5-407A-BBA1-2121FD32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24050"/>
            <a:ext cx="3333750" cy="36385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B2A87B-680A-4588-BE55-B9855819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98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A261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4A261"/>
                </a:solidFill>
                <a:latin typeface="Aptos Display"/>
                <a:ea typeface="Aptos Display"/>
                <a:cs typeface="Aptos Display"/>
              </a:rPr>
              <a:t>data/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A23876-CD7A-4A04-BE75-0A65C885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813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├── students.csv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E29457-CE33-4D8D-92CE-B0B2ECC1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432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├── courses.csv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F8B9E8-763E-4797-AE65-4F699D1E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052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├── library_items.csv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7408EB-E15F-4D5B-A265-6558853D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671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├── finance_summary.csv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A38F8C-5572-441F-9C9A-48AF657C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29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├── hostel_rooms.csv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873A44-4993-41ED-B74A-EEC8968A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910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>
                <a:solidFill>
                  <a:srgbClr val="102A43"/>
                </a:solidFill>
                <a:latin typeface="Cascadia Mono"/>
                <a:ea typeface="Cascadia Mono"/>
                <a:cs typeface="Cascadia Mono"/>
              </a:rPr>
              <a:t>├── scms_report.txt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168B1D-72CD-4D16-822A-7E3CA367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SCMS | HITEC University Taxila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6826AE-BC7F-4229-858C-D08A2D8B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C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5C8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225432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FA7CF5-89AB-4E39-AF96-30EB3CE6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99C06-4F97-443B-BDC2-AE21CD2D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640C8-171E-4894-BA2B-E203F469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7437E-CB46-45D7-B9D1-7B644C6A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E39C1-ED20-44E8-891A-881558E4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A9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A9D"/>
                </a:solidFill>
                <a:latin typeface="Aptos"/>
                <a:ea typeface="Aptos"/>
                <a:cs typeface="Aptos"/>
              </a:rPr>
              <a:t>MODULE 1: PERSON HIERARCHY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EEA17-9566-4439-A843-1F1EAA5F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Runtime polymorphism starts from the abstract Person base class.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32213C-465B-45AB-B0C0-A13A56E0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UndergradStudent preserves multilevel inheritance while keeping the student model accurate.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D7CC0-30EF-4C20-8911-2E0FE3F4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90700"/>
            <a:ext cx="266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83B66"/>
          </a:solidFill>
          <a:ln xmlns:a="http://schemas.openxmlformats.org/drawingml/2006/main" w="19050">
            <a:solidFill>
              <a:srgbClr val="FFD16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25935-CD26-45DF-AB86-C2880B1F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66900"/>
            <a:ext cx="2514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Person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abstract + displayInfo()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C7D16B-20EC-4AD6-9622-9D3E8B27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62300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8A9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52FD9-2C2E-493B-89CD-52DAF384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38500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Student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FB5FA-F8AE-47B7-90B1-432B91EB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62300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8A9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AE3CDB-94FC-4517-937F-BCE11A2A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38500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Faculty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F05A9-5D02-4B48-AC91-D7BD89FB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1714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8A9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1E0BE-9953-4D36-A39F-FC17881A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38500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Staff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D63B7-AA24-4C3B-B436-2757381F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48200"/>
            <a:ext cx="22479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9050">
            <a:solidFill>
              <a:srgbClr val="FFD16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1E5A6E-65DF-40F1-8EA0-DB25AEC0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244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UndergradStudent</a:t>
            </a:r>
          </a:p>
          <a:p xmlns:a="http://schemas.openxmlformats.org/drawingml/2006/main">
            <a:pPr algn="ctr">
              <a:defRPr sz="11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projectTitle + advisor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6FBF13-A475-41FB-8993-D38A958B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911761">
            <a:off x="6096000" y="2457450"/>
            <a:ext cx="275856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51652-C1A9-4D55-83E1-3CBDAA41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1713" y="2457450"/>
            <a:ext cx="285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BDFD02-6E33-40C2-8CD9-04AA33DE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8239">
            <a:off x="6096000" y="2457450"/>
            <a:ext cx="275856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7B23C7-CCB8-4F44-890C-1E881D49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52850"/>
            <a:ext cx="38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B5A810-E64B-4C6D-B3B6-50C492B8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910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BBD7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4A2E1D-88FE-45A7-AC60-4AA6915D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815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5C8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5C8A"/>
                </a:solidFill>
                <a:latin typeface="Aptos"/>
                <a:ea typeface="Aptos"/>
                <a:cs typeface="Aptos"/>
              </a:rPr>
              <a:t>Person* / unique_ptr&lt;Person&gt;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D7E96D-9070-4774-A01B-568D9FD2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12445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Virtual dispatch calls the correct displayInfo() at runtime.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462FA8-18B2-4C03-8E5F-4894112E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SCMS | HITEC University Taxila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E5F2DE-3213-4C1D-B147-2BE71F0C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C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5C8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0609783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6D5645-AE2D-47B3-AC4D-F2AA3447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E59A1-6F50-40B7-BE3E-AE8CE550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E72DA-AA8B-40FE-B1FE-EC135C24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1BC66-86F0-49C5-BA64-594607AB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47780-E5F0-42D6-9902-B8A2E1AC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A9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A9D"/>
                </a:solidFill>
                <a:latin typeface="Aptos"/>
                <a:ea typeface="Aptos"/>
                <a:cs typeface="Aptos"/>
              </a:rPr>
              <a:t>MODULE 2: COURSE &amp; ENROLLMENT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15FA0-9538-4AE7-AFA4-7B990681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Enrollment rules are enforced through operators and custom exceptions.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0E3B5-6C5C-4EA7-9B6F-894172F5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Course capacity, credit hours, and enrollment data are validated before state changes.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C1C92-D46B-4AA5-BDBB-0D9FCEC9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619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19050">
            <a:solidFill>
              <a:srgbClr val="0B5C8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DCF5D-F152-4C49-948F-3C78F393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Student</a:t>
            </a:r>
          </a:p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rollNo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343D6-94CF-41D7-B315-CBBDE2F1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095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8A9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BE0B08-2AE2-4517-9EFF-6DAE5CE7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57450"/>
            <a:ext cx="1943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Enrollment</a:t>
            </a:r>
          </a:p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semester + grade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08C58A-DEC0-4009-AFE6-E5EBBEAE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81250"/>
            <a:ext cx="2095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D16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7C8264-98C6-4198-B3E9-E80748FB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457450"/>
            <a:ext cx="1943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Course</a:t>
            </a:r>
          </a:p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capacity + credits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D33B35-85BC-45C5-A442-E16A3520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81250"/>
            <a:ext cx="1619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19050">
            <a:solidFill>
              <a:srgbClr val="0B5C8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3E430-CDF2-42E3-84C2-CB6382B1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5745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Faculty</a:t>
            </a:r>
          </a:p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instructor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5AB49F-FBEC-40C4-89AC-378CE2C1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0510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BB89FC-2D2E-4793-B06F-A8BDCC5F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05100"/>
            <a:ext cx="1190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F086EF-BB1B-4FC9-9889-B901A5A1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705100"/>
            <a:ext cx="80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2922D7-458C-4952-B476-64EA1EE8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2724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980BE4-25DC-45E9-9E45-0C1EDB0E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48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176ED8-FFB7-4E20-946B-D04601EE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053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F8765A-920F-43F9-9DE0-822C501F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481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operator+=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9E91C6-1FFA-4D88-9387-172098A0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48200"/>
            <a:ext cx="2305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Enrolls a student into a course and increments enrolledStudents safely.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0B17CA-B7AF-447A-83B7-99851AAB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57650"/>
            <a:ext cx="2724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9FEB44-42D8-4C8D-B9F7-EE53921D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48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316697-273E-4825-A5B0-4749D4F5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053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=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7A23CA-1605-4E83-BB2C-2A5D30E1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481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operator==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318B37-B68C-456D-A0ED-228FEF4D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48200"/>
            <a:ext cx="2305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Compares Course objects by courseCode for identity checks.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6FD687-930B-42B0-91B8-D47BB395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57650"/>
            <a:ext cx="2724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AE8C48-A9B2-44C7-81CB-F7111A8B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48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980018-4392-4B16-9556-E1971687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053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&lt;&lt;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469469-01D4-458D-87C3-47EB2195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48150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operator&lt;&lt;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D23665-BD8B-4C38-A3B1-30C87DA6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48200"/>
            <a:ext cx="2305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Formats course details for clean console output.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81355D-7F3F-4B23-8FFC-3968672C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SCMS | HITEC University Taxila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992E34-7D0A-4A96-83DD-DB3414F1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C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5C8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778158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F46A1E-5FEB-4CB0-AA8F-69C51886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0CF71-A056-42F8-AFAF-8EA99228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059CC-4659-48C1-B9EB-E8222324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9A5F3-4291-43F1-977B-000D0A3B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B69C5-17C2-4192-92F8-A639CB34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A9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A9D"/>
                </a:solidFill>
                <a:latin typeface="Aptos"/>
                <a:ea typeface="Aptos"/>
                <a:cs typeface="Aptos"/>
              </a:rPr>
              <a:t>MODULE 3: LIBRARY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4E622-D977-4527-9AA0-9798589C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The library module combines abstraction, templates, and borrowing workflows.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0FDAF-1844-42A3-8743-872ADF37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Book and Journal objects are stored through LibraryItem polymorphism.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F10A0-76C9-44B1-AB54-852683A6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76450"/>
            <a:ext cx="2190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83B66"/>
          </a:solidFill>
          <a:ln xmlns:a="http://schemas.openxmlformats.org/drawingml/2006/main" w="19050">
            <a:solidFill>
              <a:srgbClr val="FFD16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68BD5-6BD3-46DC-B1AA-7E32C406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5265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LibraryItem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abstract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5D286-F287-4F8F-ABB8-24287DC6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524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8A9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4286C5-3ED7-4AF4-A3AF-294546F6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Book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E0B797-6912-439A-99DC-43CC9C88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24250"/>
            <a:ext cx="1524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8A9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19CCF-0A76-4DBA-BC1A-D401EB75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0045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Journal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B5C95-6ADB-4988-B626-349753A4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20835">
            <a:off x="2352675" y="2743200"/>
            <a:ext cx="111132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5016B6-C21A-4530-833E-199F0910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58022">
            <a:off x="2352675" y="2743200"/>
            <a:ext cx="132985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92B759-3E9D-48FC-8FEA-405601F8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43100"/>
            <a:ext cx="2857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9050">
            <a:solidFill>
              <a:srgbClr val="FFD16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13309D-0870-4A26-B767-D0B5CD9A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717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Library&lt;T&gt;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08728E-7DC1-4A3C-ABEF-894811A5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908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Class template + searchByTitle&lt;T&gt;() function template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0893D6-B766-423F-B8DA-610FAEB9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1238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7E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55DE23-C909-4CBD-ADD7-A30467FF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767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Register member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5A2523-3792-4341-92AD-28E4CBC1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78C480-4659-471D-AEDE-37321860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1238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7E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F30468-0701-4549-9614-F675B19D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767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Search item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9CA889-8818-49DA-B347-5BA2D43D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57675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DE2D2E-B308-462D-BF03-D39C4748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00500"/>
            <a:ext cx="1238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F8A9D"/>
          </a:solidFill>
          <a:ln xmlns:a="http://schemas.openxmlformats.org/drawingml/2006/main" w="19050">
            <a:solidFill>
              <a:srgbClr val="0F8A9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78A025-E72B-4AD7-A139-264B1994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767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Issue item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7D1FA1-300C-4295-9427-31C885DF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57675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0FAE34-C3DC-4019-86DD-2A8837BC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0"/>
            <a:ext cx="1238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8D7E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1345BD-56D4-4AC7-A728-47CFA104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0767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Return item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C3DD0F-BEEF-4720-9765-513B2648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43100"/>
            <a:ext cx="2781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4B4031-88E6-456D-9B37-139A3B6E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33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BCC402-9CF3-45E8-88B5-7AABA18B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*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6EEA00-8F56-4F24-A76B-89843A19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3360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LibraryManager owns items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105251-CAC7-48AF-80C6-FBCC6866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2362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Uses vector&lt;unique_ptr&lt;LibraryItem&gt;&gt; for clean memory management.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F07C0A-81D6-4C1E-BC5F-AB3E25EE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SCMS | HITEC University Taxila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BB4CD3-A16D-45FB-91F3-89DFBC8B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C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5C8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570056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68F5DA-6015-4C42-B42E-B2D656EA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7297F-2AF2-4FF7-9461-85A2DC69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D172F-7E03-4128-AF63-31A5B97F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A7DB0-A84B-481F-B862-B40CB43F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C8E3B-69F1-4C84-9236-DBA98BD0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A9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A9D"/>
                </a:solidFill>
                <a:latin typeface="Aptos"/>
                <a:ea typeface="Aptos"/>
                <a:cs typeface="Aptos"/>
              </a:rPr>
              <a:t>MODULE 4: FINANCE &amp; PAYROLL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ECD8A-A7B5-42A1-82EB-E23459D8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Financial records are validated, summarized, and persisted as CSV.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601E4-BBC6-4896-9F1E-EFD47785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FinanceManager composes salary, fee, and invoice records.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5E612-7295-421B-9BB3-B60CEF2D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190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83B66"/>
          </a:solidFill>
          <a:ln xmlns:a="http://schemas.openxmlformats.org/drawingml/2006/main" w="19050">
            <a:solidFill>
              <a:srgbClr val="FFD16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C1D73-A03F-45F8-98B3-8374832E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717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FinancialRecord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5A463-D73A-4558-A3E4-62C2B88E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8A9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9E829-8BC7-414F-B478-28A1CD8D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SalaryRecord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81F5C-CE76-448E-9FB1-77022E3C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24250"/>
            <a:ext cx="1619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8A9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FACDF5-074E-4477-942D-CAFF3CE1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004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FeeRecord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33610-91AE-4CD3-8B9E-97D9FAEC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24250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8A9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A9F64E-1C69-4FDF-BCCD-3AF3E680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0045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Invoice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0B469D-EBAB-4DD6-A4CF-7186BCF7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061968">
            <a:off x="2143125" y="2762250"/>
            <a:ext cx="86063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3130AD-C700-4EC3-BACA-CF5DECE8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452058">
            <a:off x="2143125" y="2762250"/>
            <a:ext cx="185881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DD9A3-3732-46FC-A3DE-52B63EAE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16985">
            <a:off x="2143125" y="2762250"/>
            <a:ext cx="368020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FE2893-6F88-4485-982F-C587C960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3524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8B90FF-1752-44CA-88C7-2F48E6DA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95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481045-CECE-4C0B-A3E8-1DDE3CB1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526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#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BDC3C1-9926-4C71-A416-1D303A3C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9550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Static members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E5FE38-51E4-494D-B50C-8B060D2D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95550"/>
            <a:ext cx="3105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SalaryRecord and FeeRecord maintain total record counters.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6EAFA9-8DC8-45E5-9F90-2F6537BD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3524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82A68B-67E7-4A88-9A2B-C4C25DF4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29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EF3E33-DE9D-4FDA-AD30-4A9D1C9C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861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2F20DA-0EC3-49DA-815D-8E734EF6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Friend summary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2C520E-49AF-488E-9E23-0AA34B48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29050"/>
            <a:ext cx="3105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generateFinanceSummary() accesses private financial data for reports.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0CD1FC-AF38-4006-B44E-8F306939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3524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C5CB49-FA20-4983-8536-F88AD5C3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762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DE618B-08D2-46B5-988D-660058E8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8196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CSV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378462-6DBC-46FD-A6DB-596BEAA1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6250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Persistence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2032BD-E450-48DE-A32A-C3AC6565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62550"/>
            <a:ext cx="3105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Finance CSV and invoice CSV save/load data through fstream RAII.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CECA3D-D1F6-45D5-A365-601455EF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SCMS | HITEC University Taxila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57DF48-A61E-4F21-8905-7D88B615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C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5C8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8396033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8F9D6A-8225-450D-9772-D6B5F5F2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1B699-7648-40D9-AC38-6006DFE8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7039E-91EB-4DDC-B90D-5651B51A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AEFD1-2F11-46D8-B541-B2FC7893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208AE2-4305-4184-9197-BCDC3E1B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A9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A9D"/>
                </a:solidFill>
                <a:latin typeface="Aptos"/>
                <a:ea typeface="Aptos"/>
                <a:cs typeface="Aptos"/>
              </a:rPr>
              <a:t>MODULE 5: HOSTEL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BFD65-0544-4E78-9F07-500F31FC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Virtual inheritance resolves the diamond problem cleanly.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2A3E6-81AE-4FBD-B3EC-D3FCFB59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HostelManager inherits behavior from Accommodation and Reportable while BaseEntity appears once.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6825B-24AE-468D-83F3-07FEC0A5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1925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83B66"/>
          </a:solidFill>
          <a:ln xmlns:a="http://schemas.openxmlformats.org/drawingml/2006/main" w="19050">
            <a:solidFill>
              <a:srgbClr val="FFD16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E40FF5-5118-4850-997A-606E885F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695450"/>
            <a:ext cx="2228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BaseEntity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abstract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871C7-6668-498F-9D70-252AED25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43250"/>
            <a:ext cx="2190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19050">
            <a:solidFill>
              <a:srgbClr val="0F8A9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D3A788-8E03-4253-92F3-970B2234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Accommodation</a:t>
            </a:r>
          </a:p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virtual public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03C2C-A69F-4318-B499-0269FAD7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2190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19050">
            <a:solidFill>
              <a:srgbClr val="0F8A9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9C3CB4-D4B1-49FE-A02C-56B91993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19450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Reportable</a:t>
            </a:r>
          </a:p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virtual public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971446-1EC6-4E50-84CC-1DDF4891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857750"/>
            <a:ext cx="238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9050">
            <a:solidFill>
              <a:srgbClr val="FFD16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6A4B7B-AE47-47CA-BE5D-671A9896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933950"/>
            <a:ext cx="2228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HostelManager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E94D5-44B3-4A00-8FE0-71CCAB23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33598">
            <a:off x="6096000" y="2286000"/>
            <a:ext cx="257571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4BB3B1-B573-443F-BCB9-51A90427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66402">
            <a:off x="6096000" y="2286000"/>
            <a:ext cx="2575716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9970AE-F29B-4CED-93A1-76CE4269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77245">
            <a:off x="3667125" y="3829050"/>
            <a:ext cx="2637737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8D0219-FCCE-43DF-87DD-4E5503F9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422755">
            <a:off x="8524875" y="3829050"/>
            <a:ext cx="2637737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E64D34-BA02-4E0B-859D-647E97B4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14875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7BD596-5B6A-4B5F-9FF1-062C9723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05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C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FA2349-DD67-44ED-9A38-102B4379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6252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*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25AC4C-4E64-4CB5-8B7C-8C12CCEE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05375"/>
            <a:ext cx="2019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Composition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67570E-804E-4075-A092-777806D9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05425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HostelBlock owns Room objects through vector&lt;Room&gt;.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0F264B-FE9D-4B2F-BB2E-523B26AD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A43466-2054-439A-B6CA-9468C259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053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3FBE89-7C5F-4E35-9418-D2A7B538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6252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57510F-44EE-4B29-8C09-B6412CDC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905375"/>
            <a:ext cx="2019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Aggregation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3556F7-F1E5-4397-B306-561385D5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05425"/>
            <a:ext cx="2438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Rooms store student roll numbers only; Student objects remain outside hostel ownership.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E95ECF-04BA-458F-885A-057B5DD8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SCMS | HITEC University Taxila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B1DA44-1334-425D-A057-33B2BA90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C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5C8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069109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2342A9-7C43-4A5B-8E38-BFA61DA3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9B117-6E36-4134-B8D9-A53E5DF4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1B3CE-65E9-4259-8F31-7A67F06E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A7FA7-44F1-448E-B158-D5051B52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2BA12-BAAF-4653-B9C6-C727A133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A9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A9D"/>
                </a:solidFill>
                <a:latin typeface="Aptos"/>
                <a:ea typeface="Aptos"/>
                <a:cs typeface="Aptos"/>
              </a:rPr>
              <a:t>MODULE 6: REPORTS &amp; UTILITIES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03BC6-6BCF-4681-A74E-03FDF907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Modern C++ features power campus-wide reporting.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95C8F-CFFA-465A-9DDB-6367F503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Nested namespaces, smart pointers, lambdas, and STL algorithms organize shared functionality.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9833A-248E-4C6D-A818-7DA96EB3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1619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83B66"/>
          </a:solidFill>
          <a:ln xmlns:a="http://schemas.openxmlformats.org/drawingml/2006/main" w="19050">
            <a:solidFill>
              <a:srgbClr val="FFD16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390751-C632-4887-B589-5D758297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1466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C1DBC9-C262-43F0-90CF-024D14A5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2476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9050">
            <a:solidFill>
              <a:srgbClr val="FFD16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23DED3-5A76-4B8E-B404-BADDDC20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8595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Reports</a:t>
            </a:r>
          </a:p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ReportGenerator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15BD3-E3B8-4E24-ADDC-BAF9546C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2476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19050">
            <a:solidFill>
              <a:srgbClr val="0F8A9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CD5C3-087A-4091-81A3-73537A15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0995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Utils</a:t>
            </a:r>
          </a:p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UtilityManager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0BDC22-3947-402E-8D3D-65740D6C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49610">
            <a:off x="2590800" y="2628900"/>
            <a:ext cx="118986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90A3C9-C862-495E-B15D-5EEED3EA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714505">
            <a:off x="2590800" y="2628900"/>
            <a:ext cx="159625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388368-491E-4333-B865-0CA94F85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81150"/>
            <a:ext cx="3429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18EC4E-4131-4367-A551-86558470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71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85779-6944-4C86-B6C7-CECD8BD4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288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ptr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CB6D16-4B34-4C52-B10F-25D383AC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771650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Smart pointers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C33E8B-6D0C-4CD7-80DF-6C4DD58F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717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unique_ptr&lt;ReportGenerator&gt; and shared_ptr&lt;UtilityManager&gt; demonstrate safe ownership.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018FB2-F76D-4081-8617-D03F946C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3429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5FFA41-22EC-4490-8D20-3D4DF218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05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F7BD3A-69BC-4578-926A-248C4710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623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FA1EEB-33B4-4ABB-994A-68E32220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05150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Lambdas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86DDCE-6635-437A-9679-1EA0EA40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052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Sorting students, finding overdue library records, and filtering unpaid fees.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F6C6D8-DB1D-41B7-91EF-B0F95F06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48150"/>
            <a:ext cx="3429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93828C-3EE9-4EC8-87EF-58DF0826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38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A69683-A112-4CAD-B17C-EF9A1C46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958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STL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94EEF2-E577-464B-AD86-A952065C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38650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STL algorithms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CAE826-6E5B-4623-92D9-2A095FA0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387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sort, find_if, count_if, for_each, and copy_if are used meaningfully.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BAD998-50BA-4FA7-A500-E39E96B8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SCMS | HITEC University Taxila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3C2114-832B-43AD-B190-03D7FC18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C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5C8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6409192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A2BD1D-5CE4-4C84-BA4D-4E40DFC9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8BFCA-AB3D-4E8D-AA91-897924CC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7AB01-EF6A-4E17-A7D5-0FAFF554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42EA1F-4527-4326-AA7F-2AE6E791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CBBE4-5D90-4672-90DD-699B4A94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A9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A9D"/>
                </a:solidFill>
                <a:latin typeface="Aptos"/>
                <a:ea typeface="Aptos"/>
                <a:cs typeface="Aptos"/>
              </a:rPr>
              <a:t>PERSISTENCE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8F271-4C3B-4A69-8568-40BE9FB4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Every module saves and reloads data through structured files.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EEABA-6B43-4D07-84C4-56405AEC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CSV files support module data; TXT output stores the generated campus report.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2C1306-49DA-4B1B-A5E4-5000253E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83B66"/>
          </a:solidFill>
          <a:ln xmlns:a="http://schemas.openxmlformats.org/drawingml/2006/main" w="19050">
            <a:solidFill>
              <a:srgbClr val="FFD16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4221F0-3E52-47F7-A37C-8E1DED12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86075"/>
            <a:ext cx="1657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Module objects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310BC-B1B5-4035-90EE-46988FFE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09850"/>
            <a:ext cx="2476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9050">
            <a:solidFill>
              <a:srgbClr val="FFD16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D5A55-B929-4F35-A15A-BBB27A1B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86050"/>
            <a:ext cx="2324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CampusPersistence</a:t>
            </a:r>
          </a:p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CsvUtils + fstream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4C536E-9D85-410B-B5EA-A92C4C09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2095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19050">
            <a:solidFill>
              <a:srgbClr val="0F8A9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A72AA-DC7C-471D-9D2D-7223EC48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86075"/>
            <a:ext cx="1943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data/</a:t>
            </a:r>
          </a:p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CSV + TXT files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4EC31E-CA82-40AA-827A-8D88C2B9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09875"/>
            <a:ext cx="16192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F8A9D"/>
          </a:solidFill>
          <a:ln xmlns:a="http://schemas.openxmlformats.org/drawingml/2006/main" w="19050">
            <a:solidFill>
              <a:srgbClr val="0F8A9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39EA65-8E09-4525-B50F-1B4DBD84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86075"/>
            <a:ext cx="1466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Reloaded objects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B9F0F-3937-4D8D-804C-0F3AF1FF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38488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797600-F4CF-4B99-9E8F-BC9710FE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38488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F17F40-7E39-4EF0-A238-BC050E81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38488"/>
            <a:ext cx="57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238042-3DB7-466E-AF52-80793AFE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576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08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5D7083"/>
                </a:solidFill>
                <a:latin typeface="Cascadia Mono"/>
                <a:ea typeface="Cascadia Mono"/>
                <a:cs typeface="Cascadia Mono"/>
              </a:rPr>
              <a:t>students.csv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F668C5-243C-481B-8206-E215EEE4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9577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08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5D7083"/>
                </a:solidFill>
                <a:latin typeface="Cascadia Mono"/>
                <a:ea typeface="Cascadia Mono"/>
                <a:cs typeface="Cascadia Mono"/>
              </a:rPr>
              <a:t>undergrad_students.csv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B28AB5-E7A0-436C-A141-1841C4C4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339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08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5D7083"/>
                </a:solidFill>
                <a:latin typeface="Cascadia Mono"/>
                <a:ea typeface="Cascadia Mono"/>
                <a:cs typeface="Cascadia Mono"/>
              </a:rPr>
              <a:t>courses.csv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740198-9CB6-4A2D-8901-4541EFA2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720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08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5D7083"/>
                </a:solidFill>
                <a:latin typeface="Cascadia Mono"/>
                <a:ea typeface="Cascadia Mono"/>
                <a:cs typeface="Cascadia Mono"/>
              </a:rPr>
              <a:t>library_items.csv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8E5BC8-CB63-4002-9339-CDCD665E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101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08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5D7083"/>
                </a:solidFill>
                <a:latin typeface="Cascadia Mono"/>
                <a:ea typeface="Cascadia Mono"/>
                <a:cs typeface="Cascadia Mono"/>
              </a:rPr>
              <a:t>finance_summary.csv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A5A00E-6C4A-48AD-8766-39FFBF19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4827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08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5D7083"/>
                </a:solidFill>
                <a:latin typeface="Cascadia Mono"/>
                <a:ea typeface="Cascadia Mono"/>
                <a:cs typeface="Cascadia Mono"/>
              </a:rPr>
              <a:t>hostel_allocations.csv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45334E-25FA-4BC0-B361-4562F26F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864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083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5D7083"/>
                </a:solidFill>
                <a:latin typeface="Cascadia Mono"/>
                <a:ea typeface="Cascadia Mono"/>
                <a:cs typeface="Cascadia Mono"/>
              </a:rPr>
              <a:t>scms_report.txt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095DBA-0722-4AB8-B8B3-9F634B13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4476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A0EDFD-4CD4-4A87-8303-2AA13E15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B29B32-E0CA-4984-96B2-3F49BCD1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291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BA53C1-6DB9-438E-AAD4-C7A81C64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72000"/>
            <a:ext cx="3638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Safety rule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9CC714-3F57-430B-986B-B3D786E5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405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Bad CSV rows are skipped safely; numeric parsing validates before object creation.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CA79A5-9CA6-4CD1-87F1-B33A15D1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SCMS | HITEC University Taxila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0AADC5-E0CD-4370-8455-461D3DA2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C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5C8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3397911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4D62CD-B965-4F3B-A9E8-FBF13991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16747-8108-4A2B-9F3C-3B5C67CA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5CA6F-72DB-4D6F-8BFE-2FC74690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931D2-7C00-4FAF-BE8C-8189AF3B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57449-4790-45F5-AD48-70C1BE21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A9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A9D"/>
                </a:solidFill>
                <a:latin typeface="Aptos"/>
                <a:ea typeface="Aptos"/>
                <a:cs typeface="Aptos"/>
              </a:rPr>
              <a:t>OOP CONCEPTS IMPLEMENTED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769B1-885A-474A-A855-4C023DEB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The project covers the full instructor checklist with concrete classes.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A050D-67D8-4476-9700-F6829697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Concepts are distributed across modules instead of being isolated examples.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1CF47-A8B5-427E-8E63-670CE0A6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3143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E89C8-764F-4AE3-9EF4-1399B017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383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C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5C8A"/>
                </a:solidFill>
                <a:latin typeface="Aptos"/>
                <a:ea typeface="Aptos"/>
                <a:cs typeface="Aptos"/>
              </a:rPr>
              <a:t>Inheritance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CAC2B0-E39D-4663-9493-063F4AFF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Person, LibraryItem, FinancialRecord, Hostel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4E79B-2C2D-4728-B489-0EBF4C40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143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9607CE-BD4F-40F8-8E29-D791F530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383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C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5C8A"/>
                </a:solidFill>
                <a:latin typeface="Aptos"/>
                <a:ea typeface="Aptos"/>
                <a:cs typeface="Aptos"/>
              </a:rPr>
              <a:t>Polymorphism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DE5A3-4675-4A21-9D8F-E2F5BE29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955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displayInfo(), displayRecord(), LibraryItem*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07122D-5ABE-4F90-ACCD-0A1CC4A7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3143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CADDDA-2908-4EE3-81BB-78DE39ED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C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5C8A"/>
                </a:solidFill>
                <a:latin typeface="Aptos"/>
                <a:ea typeface="Aptos"/>
                <a:cs typeface="Aptos"/>
              </a:rPr>
              <a:t>Operators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D288B-D96F-41DF-8663-9AF06346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955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+=, +, ==, &lt;&lt;, -=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3DA2B3-9929-47E0-A2FF-38ACC93A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3143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A9511B-919A-4D64-93AC-9E12554B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051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C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5C8A"/>
                </a:solidFill>
                <a:latin typeface="Aptos"/>
                <a:ea typeface="Aptos"/>
                <a:cs typeface="Aptos"/>
              </a:rPr>
              <a:t>Templates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A083A-5884-49CF-AC3F-EF760C6C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623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Library&lt;T&gt;, searchByTitle&lt;T&gt;()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F98EF1-8EF3-4ECE-A1E9-C5FE8907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143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86C07B-A5B4-4C01-9346-E88F3609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051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C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5C8A"/>
                </a:solidFill>
                <a:latin typeface="Aptos"/>
                <a:ea typeface="Aptos"/>
                <a:cs typeface="Aptos"/>
              </a:rPr>
              <a:t>Exceptions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EDEBAC-4FA2-4B8E-B04E-C4293CEE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623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Enrollment, capacity, overdue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AF87E7-DD12-4514-8448-344924C8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62300"/>
            <a:ext cx="3143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AF65AB-663B-4E6F-8B33-C36A0C86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051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C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5C8A"/>
                </a:solidFill>
                <a:latin typeface="Aptos"/>
                <a:ea typeface="Aptos"/>
                <a:cs typeface="Aptos"/>
              </a:rPr>
              <a:t>Smart pointers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7BAB4F-ADCA-4AD6-8D03-65C487C2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623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unique_ptr, shared_ptr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9F2189-604B-4C92-8380-FF0C8D1F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3143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5527A3-2418-4579-BF8A-FBC5F19E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719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C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5C8A"/>
                </a:solidFill>
                <a:latin typeface="Aptos"/>
                <a:ea typeface="Aptos"/>
                <a:cs typeface="Aptos"/>
              </a:rPr>
              <a:t>Namespaces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3FCEB4-F1E2-43CC-AC80-166E3796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291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SCMS::Reports, SCMS::Utils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96B5A9-5E85-48BD-8BFE-74E73F68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29100"/>
            <a:ext cx="3143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6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09BE0E-7447-40FD-846F-83A1FE55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719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C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5C8A"/>
                </a:solidFill>
                <a:latin typeface="Aptos"/>
                <a:ea typeface="Aptos"/>
                <a:cs typeface="Aptos"/>
              </a:rPr>
              <a:t>Persistence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B50B7B-07AA-4C86-96B8-3089EB6E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291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fstream CSV/TXT save/load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5F70E5-0496-4FC4-A0E8-2D67D930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3143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89DF27-E382-4C9E-87A6-AC31FADE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719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C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5C8A"/>
                </a:solidFill>
                <a:latin typeface="Aptos"/>
                <a:ea typeface="Aptos"/>
                <a:cs typeface="Aptos"/>
              </a:rPr>
              <a:t>Composition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B7D1A2-DD89-42E6-9EC4-4C4B42F5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291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FinanceManager, HostelBlock, LibraryManager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D0194C-4839-4299-A4FA-F196262D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SCMS | HITEC University Taxila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88F1FE-AEC4-47E6-A6F8-2A04560E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C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5C8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4581419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7E15F7-1773-404C-9298-8728ADED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830954-8D36-4CB0-A784-24CEE45C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6E573-7CB8-481F-A9BF-6F845CD6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D2EA8-1DE5-4540-BFFC-2CB6B85F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57A56-364C-42BD-BB22-73BB14EB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A9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A9D"/>
                </a:solidFill>
                <a:latin typeface="Aptos"/>
                <a:ea typeface="Aptos"/>
                <a:cs typeface="Aptos"/>
              </a:rPr>
              <a:t>UML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FF66A-1DF5-486D-A796-D0FF26D3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The class model shows inheritance, composition, aggregation, and templates.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C6CBA-5950-4705-B65E-CD66E6E6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The full UML artifact is maintained in docs/UML and reused here for presentation.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0F491-DE79-4ADF-B545-A93A6AFC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72390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ff7932d6443ea"/>
          <a:stretch xmlns:a="http://schemas.openxmlformats.org/drawingml/2006/main"/>
        </p:blipFill>
        <p:spPr>
          <a:xfrm xmlns:a="http://schemas.openxmlformats.org/drawingml/2006/main">
            <a:off x="1758950" y="1962150"/>
            <a:ext cx="5054600" cy="37909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88E12-F8C2-4A59-AC6C-01B54CD8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62150"/>
            <a:ext cx="285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2BB9BE-B54C-43A7-B8F7-583B5534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52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A5090-E050-4308-B39B-FC400CFC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098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BB23D-AB58-48D7-A9CF-E7524C8A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2019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Inheritance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B4B164-36CF-4E12-A222-A7E0EE20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52700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Person, LibraryItem, FinancialRecord, and BaseEntity hierarchies.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1AAF27-C674-4A8D-901C-5D623AB3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285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A4D1D7-0877-42BF-AA42-0E5F848D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8C4953-09E1-47B9-AEDC-E830BF0E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909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*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74B3A8-598E-4725-96D0-0EA47964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33750"/>
            <a:ext cx="2019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Composition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49F53B-5F40-407D-B621-D535367D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33800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Manager classes own their records, items, blocks, and rooms.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A5F437-5EC7-42B8-BE91-4CFB5CFC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24350"/>
            <a:ext cx="285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D044F6-4F8C-41CE-9172-080A559B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14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582B84-F422-476E-B603-6C5BFA2B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720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59586A-BC40-4FDF-A057-B40912EF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14850"/>
            <a:ext cx="2019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Aggregation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A0CC36-7BA4-4188-9489-213E7FA4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14900"/>
            <a:ext cx="2438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Courses, rooms, and enrollments reference external student/faculty data.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E94937-F749-4BC4-9DF5-3B106744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SCMS | HITEC University Taxila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1DB772-EC5B-4957-9CB0-9165B1D8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C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5C8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9070991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3FB994-D289-477F-9B70-0C68C6FC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5B9CC-30AD-4D9A-9F67-027D4431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91F24-E241-4EEB-9F59-05D722DC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7D183-AFE0-472F-AC3B-A0AAC2EC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6A6CB-6D94-4AF9-8A25-425D4965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A9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A9D"/>
                </a:solidFill>
                <a:latin typeface="Aptos"/>
                <a:ea typeface="Aptos"/>
                <a:cs typeface="Aptos"/>
              </a:rPr>
              <a:t>BUILD &amp; VERIFICATION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73778-DE0C-4630-9A49-326A7CF9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The final project compiles cleanly and runs through the integrated menu.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F77D8-468E-48E3-9C1A-67FEDE79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Verification confirms executable generation, runtime startup, and module smoke paths.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CEB92-0A21-4777-95B7-8D39F685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619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6283D"/>
          </a:solidFill>
          <a:ln xmlns:a="http://schemas.openxmlformats.org/drawingml/2006/main" w="19050">
            <a:solidFill>
              <a:srgbClr val="FFD16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4926E-2391-4596-AD99-88BD0FBE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561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FF6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DFF6FF"/>
                </a:solidFill>
                <a:latin typeface="Cascadia Mono"/>
                <a:ea typeface="Cascadia Mono"/>
                <a:cs typeface="Cascadia Mono"/>
              </a:rPr>
              <a:t>$sources = Get-ChildItem src -Recurse -Filter *.cpp</a:t>
            </a:r>
          </a:p>
          <a:p xmlns:a="http://schemas.openxmlformats.org/drawingml/2006/main">
            <a:pPr algn="l">
              <a:defRPr sz="1500" b="0">
                <a:solidFill>
                  <a:srgbClr val="DFF6FF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DFF6FF"/>
                </a:solidFill>
                <a:latin typeface="Cascadia Mono"/>
                <a:ea typeface="Cascadia Mono"/>
                <a:cs typeface="Cascadia Mono"/>
              </a:rPr>
              <a:t>g++ -std=c++17 -Wall -Wextra -Werror $sources.FullName -o scms.exe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15CAB-74CB-4D3D-AD5C-54EAAFBB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1524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4920D-5E44-4F76-AEC9-3BAACE2F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118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rPr>
              <a:t>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E4533-D6FD-497F-927C-244DE47B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083"/>
                </a:solidFill>
                <a:latin typeface="Aptos"/>
                <a:ea typeface="Aptos"/>
                <a:cs typeface="Aptos"/>
              </a:rPr>
              <a:t>ZERO WARNINGS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16FF0-07D1-4023-872E-BFBE229A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38350"/>
            <a:ext cx="1524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4A2DA2-2EF5-4F40-878E-A722789A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09800"/>
            <a:ext cx="118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A9D8F"/>
                </a:solidFill>
                <a:latin typeface="Aptos Display"/>
                <a:ea typeface="Aptos Display"/>
                <a:cs typeface="Aptos Display"/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52B490-9C9A-47E7-9762-B6188D4E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4795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083"/>
                </a:solidFill>
                <a:latin typeface="Aptos"/>
                <a:ea typeface="Aptos"/>
                <a:cs typeface="Aptos"/>
              </a:rPr>
              <a:t>RUNTIME MENU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D2AD05-663A-428C-8C0A-BF1099D4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76650"/>
            <a:ext cx="1524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10232-FB6A-4CC4-9DFF-09916DB9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48100"/>
            <a:ext cx="118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D166"/>
                </a:solidFill>
                <a:latin typeface="Aptos Display"/>
                <a:ea typeface="Aptos Display"/>
                <a:cs typeface="Aptos Display"/>
              </a:rPr>
              <a:t>YES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384271-0D44-4DAB-B665-31BCFB91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8625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083"/>
                </a:solidFill>
                <a:latin typeface="Aptos"/>
                <a:ea typeface="Aptos"/>
                <a:cs typeface="Aptos"/>
              </a:rPr>
              <a:t>SCMS.EXE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F4B054-4675-440A-8E00-195CB0B8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76650"/>
            <a:ext cx="1524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EBFE4-1AF7-45F1-BE56-076910D5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48100"/>
            <a:ext cx="1181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5C8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5C8A"/>
                </a:solidFill>
                <a:latin typeface="Aptos Display"/>
                <a:ea typeface="Aptos Display"/>
                <a:cs typeface="Aptos Display"/>
              </a:rPr>
              <a:t>17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C210C6-F589-460C-893B-E517C694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286250"/>
            <a:ext cx="1181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7083"/>
                </a:solidFill>
                <a:latin typeface="Aptos"/>
                <a:ea typeface="Aptos"/>
                <a:cs typeface="Aptos"/>
              </a:rPr>
              <a:t>SLIDES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10BF05-715F-407F-8FEE-15581D1B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6172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251736-D07E-4547-B97F-15690C5D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19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E2D750-8089-46A1-BD8A-322A434A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0D8D8D-53F1-47B7-BBFF-62BCDB22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Smoke test path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B6148E-1093-41D3-AE0D-731707DB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19650"/>
            <a:ext cx="5753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Startup splash -&gt; main menu -&gt; selected modules -&gt; return menu -&gt; exit code 0.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8EF40D-A796-415A-AA10-91FE0286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SCMS | HITEC University Taxila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795AD4-8F3A-426B-AD31-D9284C9C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C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5C8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119776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1F7E4A-24CB-4DEC-A2A1-71AF5E39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68874-65AC-4FCA-BC36-B7A4C0B0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AF565-3FA9-453A-925E-F884D78C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53EE7-A53A-40C7-AE16-0F3D21EB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6C040-7F58-47C6-8FEA-56DE25CC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A9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A9D"/>
                </a:solidFill>
                <a:latin typeface="Aptos"/>
                <a:ea typeface="Aptos"/>
                <a:cs typeface="Aptos"/>
              </a:rPr>
              <a:t>PROJECT ACHIEVEMENTS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FABD7-39C5-4551-B7F4-B4986813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SCMS is submission-ready as a complete C++ OOP showcase.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25C10-14A0-47ED-BAA2-F388FA54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The implementation combines academic requirements with practical campus workflows.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D0ED61-C7A3-4CFD-884B-4B644540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191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A41A9-B162-443B-A4D9-3DF68987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76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6C99E-23B9-47E3-81DA-C4013011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336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34F6D-4B54-46DE-AC2E-218CE7A5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76450"/>
            <a:ext cx="3352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Complete modules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C073D-9745-44F8-A867-5695EB23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76500"/>
            <a:ext cx="3771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Person, Course, Library, Finance, Hostel, Reports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E40B0C-42A8-4689-A528-0A80B3AB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85950"/>
            <a:ext cx="4191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D25A33-3556-490E-9915-28FB0B08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76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EBB00C-A0C1-4F76-88B3-50119D27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336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1C0517-26DE-4CB4-8103-52A2C539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76450"/>
            <a:ext cx="3352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Strong OOP coverage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76D19-0806-49FF-8A73-8E55F94A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76500"/>
            <a:ext cx="3771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25+ concepts demonstrated in real classes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6DF9F1-DB55-4096-8E5A-53E4F960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4191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DAEB27-46F6-4A77-8DDE-DCDD573B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38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865E0A-9097-47AB-9CF6-0738F5AB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956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94D5F3-92EA-4A71-90DC-C8D707F9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38500"/>
            <a:ext cx="3352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Persistence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92687F-92F0-4DFA-98DB-D1B5B36C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3771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CSV/TXT data files generated and reloaded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AB1EB-DB43-4BFA-AE46-616C27A3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4191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64627A-74A6-4CE8-A593-1C583A27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38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9C6DA5-4402-4441-8A11-F6F71C7A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9565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45AA5A-9937-46AA-8219-CC51DEFC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38500"/>
            <a:ext cx="3352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Documentation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E572F4-DA3C-4957-8965-2F222C18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38550"/>
            <a:ext cx="3771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Overview, architecture, UML, viva prep, testing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D4D1D6-E0D3-459D-A9B8-02D8D805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4191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D6BEC7-9F96-4967-BBBB-546595C1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00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24FF59-3B56-42F9-B079-239B1F56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577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CA4949-02E4-45AB-B21D-E4B33566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00550"/>
            <a:ext cx="3352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Branding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A91901-FFB3-4D5F-A75A-0985AF67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00600"/>
            <a:ext cx="3771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Logo, cover page, presentation, assets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A443D4-D1D2-42F4-8FA8-B941B283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191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7CA810-30A2-409D-AFFD-8FC56095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00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38CD48-B18A-4D1B-9A2F-B515318E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577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C44C5A-3EB3-4A85-9F25-3ADAA548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00550"/>
            <a:ext cx="3352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Packaging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01FE3B-F95D-4E80-B804-63BB71C0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00600"/>
            <a:ext cx="3771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Executable and ZIP submission artifacts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034E57-EB90-483D-B191-44FC023B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SCMS | HITEC University Taxila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B6D290-446E-4833-9A97-0209EC0C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B5C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5C8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8471220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22717E-1ECD-4507-B737-14315977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28B35-57F2-4E2D-85A2-DB0CC3DE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D9BBA-7CD5-43E8-971A-D22006C1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1109B-DD47-4016-A320-A4CDE07D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9543A-7F1A-4150-BA0E-8550CBA6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19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9961EA-5F8C-45BF-9C89-5F5FEF11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modular campus system that proves OOP through working software.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6CEAC-1C29-4ECE-8FF5-B859398C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FF6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FF6FF"/>
                </a:solidFill>
                <a:latin typeface="Aptos"/>
                <a:ea typeface="Aptos"/>
                <a:cs typeface="Aptos"/>
              </a:rPr>
              <a:t>SCMS connects class design, runtime behavior, persistence, reporting, and polished submission assets.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A7EF3-C054-49BD-8E5E-AA75D5F0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19350"/>
            <a:ext cx="29527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>
              <a:alpha val="93333"/>
            </a:srgbClr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24531A-0B0E-4CF2-A4B6-FD7DF78F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609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8DF51-143A-4771-9C95-8E33367D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6670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B049D4-0F15-4B7C-9827-F489369D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609850"/>
            <a:ext cx="2114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Academic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C12311-CA75-4EC5-81E3-C2B4F1A2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009900"/>
            <a:ext cx="2533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Every major concept is tied to a visible project feature and viva-ready explanation.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DD6466-6B96-4BEF-97A5-915588C4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19350"/>
            <a:ext cx="29527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>
              <a:alpha val="93333"/>
            </a:srgbClr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01F2E-E2C4-414D-8EE6-2C864EB5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609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A7A42B-61F6-4933-8AC9-8E9A8E0A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6670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09FB38-44C0-429F-B098-67E2B110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609850"/>
            <a:ext cx="2114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Technical value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93250-7FBB-4D97-9619-D1CAAFCD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009900"/>
            <a:ext cx="2533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C++17, STL, RAII, validation, exceptions, and clean module boundaries.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5BAAEA-D8AF-419F-8489-B1632E69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19350"/>
            <a:ext cx="29527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>
              <a:alpha val="93333"/>
            </a:srgbClr>
          </a:solidFill>
          <a:ln xmlns:a="http://schemas.openxmlformats.org/drawingml/2006/main" w="9525">
            <a:solidFill>
              <a:srgbClr val="D8E5E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28C0DC-3C40-471B-9459-F79B862F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609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13DF92-DBAF-4ECD-947D-1B2DB486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667000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8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6283D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A04150-488F-46AB-9C3C-0212FD25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609850"/>
            <a:ext cx="2114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Presentation value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F3B5BF-2120-4FEE-8EF5-7B973997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009900"/>
            <a:ext cx="2533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08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7083"/>
                </a:solidFill>
                <a:latin typeface="Aptos"/>
                <a:ea typeface="Aptos"/>
                <a:cs typeface="Aptos"/>
              </a:rPr>
              <a:t>Professional documentation, UML, branding, and verified build output.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81FF68-6BEF-41D8-B863-DF576DD0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95850"/>
            <a:ext cx="752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Ready for instructor evaluation and viva discussion.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931158-6167-4AD4-BF10-096F4F5A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FF6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FF6FF"/>
                </a:solidFill>
                <a:latin typeface="Aptos"/>
                <a:ea typeface="Aptos"/>
                <a:cs typeface="Aptos"/>
              </a:rPr>
              <a:t>SCMS | HITEC University Taxila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717B73-27F7-4E5A-B767-CAA7261E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6489892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2C800B-B8C0-46AD-9E91-1F50D526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9979A-690F-4E06-86A7-7F1074F7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95364-2562-4D2B-811B-5E64BE46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6275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A9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689ae8e9749a9"/>
          <a:stretch xmlns:a="http://schemas.openxmlformats.org/drawingml/2006/main"/>
        </p:blipFill>
        <p:spPr>
          <a:xfrm xmlns:a="http://schemas.openxmlformats.org/drawingml/2006/main">
            <a:off x="4762500" y="1009650"/>
            <a:ext cx="2667000" cy="2667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02119-DB77-4993-A8D8-85869F3B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48125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Questions &amp; Answers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1CC3FD-E69A-410E-B0FE-8CB9D1EB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857750"/>
            <a:ext cx="6972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D166"/>
                </a:solidFill>
                <a:latin typeface="Aptos"/>
                <a:ea typeface="Aptos"/>
                <a:cs typeface="Aptos"/>
              </a:rPr>
              <a:t>Smart Campus Management System (SCMS) | HITEC University Taxila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9F360-2557-473B-B793-2C68F041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FF6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FF6FF"/>
                </a:solidFill>
                <a:latin typeface="Aptos"/>
                <a:ea typeface="Aptos"/>
                <a:cs typeface="Aptos"/>
              </a:rPr>
              <a:t>SCMS | HITEC University Taxila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41551-D06A-408E-B22B-A81EA8E0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D16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D166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546669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2026-06-07T20:29:18.8210000Z</dcterms:created>
  <dcterms:modified xsi:type="dcterms:W3CDTF">2026-06-07T20:29:18.8210000Z</dcterms:modified>
</coreProperties>
</file>